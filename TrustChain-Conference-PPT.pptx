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8288000" cy="10287000"/>
  <p:notesSz cx="6858000" cy="9144000"/>
  <p:embeddedFontLst>
    <p:embeddedFont>
      <p:font typeface="Telegraf" panose="020B0604020202020204" charset="0"/>
      <p:regular r:id="rId17"/>
    </p:embeddedFont>
    <p:embeddedFont>
      <p:font typeface="Telegraf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22" autoAdjust="0"/>
  </p:normalViewPr>
  <p:slideViewPr>
    <p:cSldViewPr>
      <p:cViewPr varScale="1">
        <p:scale>
          <a:sx n="52" d="100"/>
          <a:sy n="52" d="100"/>
        </p:scale>
        <p:origin x="715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8EC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6038850"/>
            <a:chOff x="0" y="0"/>
            <a:chExt cx="11099800" cy="8051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687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Building Trust Through Transparent Supply Chains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TrustChain Presentation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7991353"/>
            <a:ext cx="9550650" cy="149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85"/>
              </a:lnSpc>
            </a:pPr>
            <a:r>
              <a:rPr lang="en-US" sz="3441" spc="-34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rPr>
              <a:t>Author : Joel Sundarsingh A</a:t>
            </a:r>
          </a:p>
          <a:p>
            <a:pPr marL="0" lvl="0" indent="0" algn="l">
              <a:lnSpc>
                <a:spcPts val="3785"/>
              </a:lnSpc>
            </a:pPr>
            <a:r>
              <a:rPr lang="en-US" sz="3441" spc="-34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rPr>
              <a:t>Co -Author : B Kailaash</a:t>
            </a:r>
          </a:p>
          <a:p>
            <a:pPr marL="0" lvl="0" indent="0" algn="l">
              <a:lnSpc>
                <a:spcPts val="3785"/>
              </a:lnSpc>
            </a:pPr>
            <a:r>
              <a:rPr lang="en-US" sz="3441" spc="-34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rPr>
              <a:t>Faculty : Dr. N Duraimurugan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F3AFCC-6960-5160-FFAE-DABFFECBB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5825" y="7991353"/>
            <a:ext cx="1495425" cy="1504950"/>
          </a:xfrm>
          <a:prstGeom prst="rect">
            <a:avLst/>
          </a:prstGeom>
        </p:spPr>
      </p:pic>
      <p:pic>
        <p:nvPicPr>
          <p:cNvPr id="1028" name="Picture 4" descr="This may contain: two hands shaking each other in front of a cityscape with the sun shining behind them">
            <a:extLst>
              <a:ext uri="{FF2B5EF4-FFF2-40B4-BE49-F238E27FC236}">
                <a16:creationId xmlns:a16="http://schemas.microsoft.com/office/drawing/2014/main" id="{ED9976DC-4230-1409-835B-18871F0C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659606"/>
            <a:ext cx="6604588" cy="883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Introduction &amp; Motivation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statistics on MSME challenges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8EC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SOURCE 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2813219"/>
            <a:ext cx="6355365" cy="2345699"/>
            <a:chOff x="0" y="0"/>
            <a:chExt cx="8473820" cy="312759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30792"/>
              <a:ext cx="8473820" cy="2196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53"/>
                </a:lnSpc>
              </a:pPr>
              <a:r>
                <a:rPr lang="en-US" sz="2252" spc="-22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₹ 48,000 crore worth of delayed-payment applications filed by MSMEs</a:t>
              </a:r>
            </a:p>
            <a:p>
              <a:pPr marL="0" lvl="0" indent="0" algn="l">
                <a:lnSpc>
                  <a:spcPts val="3433"/>
                </a:lnSpc>
              </a:pPr>
              <a:endParaRPr lang="en-US" sz="2252" spc="-22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3433"/>
                </a:lnSpc>
              </a:pPr>
              <a:r>
                <a:rPr lang="en-US" sz="2452" b="1" spc="-24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Financial Express, Jan 2025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8473820" cy="574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56"/>
                </a:lnSpc>
              </a:pPr>
              <a:r>
                <a:rPr lang="en-US" sz="2778" b="1" spc="-27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Delayed Payments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90400" y="2745460"/>
            <a:ext cx="6861700" cy="2737467"/>
            <a:chOff x="0" y="0"/>
            <a:chExt cx="9148933" cy="364995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000735"/>
              <a:ext cx="9148933" cy="2649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9"/>
                </a:lnSpc>
              </a:pPr>
              <a:r>
                <a:rPr lang="en-US" sz="2299" spc="-22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46,000 + companies disclosed dues totaling ₹ 61,770 crore within 45 days and ₹ 22,730 crore beyond 45 days</a:t>
              </a:r>
            </a:p>
            <a:p>
              <a:pPr marL="0" lvl="0" indent="0" algn="l">
                <a:lnSpc>
                  <a:spcPts val="2800"/>
                </a:lnSpc>
              </a:pPr>
              <a:endParaRPr lang="en-US" sz="2299" spc="-22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 b="1" spc="-24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TaxGuru, 2025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Outstanding Dues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6244768"/>
            <a:ext cx="6861700" cy="2385041"/>
            <a:chOff x="0" y="0"/>
            <a:chExt cx="9148933" cy="3180055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000735"/>
              <a:ext cx="9148933" cy="2179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r>
                <a:rPr lang="en-US" sz="2300" spc="-23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77 % of logistics decision-makers rate real-time visibility as a must-have capability</a:t>
              </a:r>
            </a:p>
            <a:p>
              <a:pPr marL="0" lvl="0" indent="0" algn="l">
                <a:lnSpc>
                  <a:spcPts val="3220"/>
                </a:lnSpc>
              </a:pPr>
              <a:endParaRPr lang="en-US" sz="2300" spc="-23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 b="1" spc="-24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Maersk Insights, 2024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Visibility Gap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90400" y="6244767"/>
            <a:ext cx="6861700" cy="2385042"/>
            <a:chOff x="0" y="0"/>
            <a:chExt cx="9148933" cy="3180055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000735"/>
              <a:ext cx="9148933" cy="2179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9"/>
                </a:lnSpc>
              </a:pPr>
              <a:r>
                <a:rPr lang="en-US" sz="2299" spc="-22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MSMEs contribute ≈ 45.8 % of India’s exports yet lag in digital adoption and transparency tools</a:t>
              </a:r>
            </a:p>
            <a:p>
              <a:pPr marL="0" lvl="0" indent="0" algn="l">
                <a:lnSpc>
                  <a:spcPts val="3219"/>
                </a:lnSpc>
              </a:pPr>
              <a:endParaRPr lang="en-US" sz="2299" spc="-22" dirty="0">
                <a:solidFill>
                  <a:srgbClr val="1F497D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 b="1" spc="-24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SIDBI &amp; NITI Aayog Report, 2025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Export Dependence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8EC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2639675" cy="1774349"/>
            <a:chOff x="0" y="0"/>
            <a:chExt cx="16852900" cy="2365799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Problem Statement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Challenges in Current Supply Chains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3352800"/>
            <a:ext cx="8324850" cy="2244249"/>
            <a:chOff x="0" y="0"/>
            <a:chExt cx="11099800" cy="2992332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u="none" strike="noStrike" spc="-29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Fragmented Systems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04265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Existing supply chains are often fragmented, leading to communication gaps and inefficiencies that hinder effective collaboration among stakeholders, ultimately affecting overall trust and performance in the MSME sector.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038850"/>
            <a:ext cx="8324850" cy="1891824"/>
            <a:chOff x="0" y="0"/>
            <a:chExt cx="11099800" cy="252243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u="none" strike="noStrike" spc="-29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Unverifiable Data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04265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The reliance on traditional data sources creates unverifiable information, making it difficult for MSMEs to establish credibility and trust with partners, thus compromising transparency in their operations.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275" y="4114193"/>
            <a:ext cx="6861700" cy="1461751"/>
            <a:chOff x="0" y="0"/>
            <a:chExt cx="9148933" cy="1949002"/>
          </a:xfrm>
        </p:grpSpPr>
        <p:sp>
          <p:nvSpPr>
            <p:cNvPr id="3" name="TextBox 3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Big Data analytics provide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valuable insights for decision-making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Analytics Insights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1275" y="1428143"/>
            <a:ext cx="6861700" cy="1461751"/>
            <a:chOff x="0" y="0"/>
            <a:chExt cx="9148933" cy="1949002"/>
          </a:xfrm>
        </p:grpSpPr>
        <p:sp>
          <p:nvSpPr>
            <p:cNvPr id="6" name="TextBox 6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The blockchain ensures data integrity with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an unchangeable record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Immutable Ledger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4222" y="6800243"/>
            <a:ext cx="6858753" cy="1480123"/>
            <a:chOff x="0" y="0"/>
            <a:chExt cx="9145004" cy="197349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14500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Predictive TrustScore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25231"/>
              <a:ext cx="9145004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TrustScore measures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reliability of supply chain partners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657337"/>
            <a:ext cx="6886575" cy="204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Objectives of TrustChain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INFORMATION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3383317"/>
            <a:ext cx="6861700" cy="1461751"/>
            <a:chOff x="0" y="0"/>
            <a:chExt cx="9148933" cy="194900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Each supply chain event —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from order to payment 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— is cryptographically linked.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Traceability &amp; Accountability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6078553"/>
            <a:ext cx="6861700" cy="1461751"/>
            <a:chOff x="0" y="0"/>
            <a:chExt cx="9148933" cy="194900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Predictive analytics detects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anomalies 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early using clustering and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pattern recognition.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Predictive Risk Analysis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19850" y="666750"/>
            <a:ext cx="5448300" cy="8058150"/>
            <a:chOff x="0" y="0"/>
            <a:chExt cx="643859" cy="952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EA8E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72950" y="666750"/>
            <a:ext cx="5448300" cy="8058150"/>
            <a:chOff x="0" y="0"/>
            <a:chExt cx="643859" cy="9522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5448300" cy="5001764"/>
            <a:chOff x="0" y="0"/>
            <a:chExt cx="7264400" cy="66690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4780953"/>
              <a:ext cx="7264400" cy="18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5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Current supply chains suffer from </a:t>
              </a:r>
              <a:r>
                <a:rPr lang="en-US" sz="2000" b="1" spc="-5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silos</a:t>
              </a:r>
              <a:r>
                <a:rPr lang="en-US" sz="2000" spc="-5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, lack of verification, and centralized vulnerabilities. These issues hinder </a:t>
              </a:r>
              <a:r>
                <a:rPr lang="en-US" sz="2000" b="1" spc="-5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trust</a:t>
              </a:r>
              <a:r>
                <a:rPr lang="en-US" sz="2000" spc="-5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 and transparency, creating risks for MSMEs and their stakeholders.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426834"/>
              <a:ext cx="72644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Challenges of Fragmented Supply Chain Models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Existing Systems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8EC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3712751"/>
            <a:chOff x="0" y="0"/>
            <a:chExt cx="11099800" cy="4950335"/>
          </a:xfrm>
        </p:grpSpPr>
        <p:sp>
          <p:nvSpPr>
            <p:cNvPr id="8" name="TextBox 8"/>
            <p:cNvSpPr txBox="1"/>
            <p:nvPr/>
          </p:nvSpPr>
          <p:spPr>
            <a:xfrm>
              <a:off x="0" y="3062269"/>
              <a:ext cx="11099800" cy="18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This proposed system combines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hybrid blockchain technology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 with advanced analytics. Utilizing the MERN stack and Ethereum/IPFS, it enhances supply chain transparency and predictive trust computation for MSMEs.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669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Integrating Blockchain and Analytics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Proposed System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EA8E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1028700" y="843298"/>
            <a:ext cx="7186214" cy="8130388"/>
          </a:xfrm>
          <a:custGeom>
            <a:avLst/>
            <a:gdLst/>
            <a:ahLst/>
            <a:cxnLst/>
            <a:rect l="l" t="t" r="r" b="b"/>
            <a:pathLst>
              <a:path w="7186214" h="8130388">
                <a:moveTo>
                  <a:pt x="0" y="0"/>
                </a:moveTo>
                <a:lnTo>
                  <a:pt x="7186214" y="0"/>
                </a:lnTo>
                <a:lnTo>
                  <a:pt x="7186214" y="8130389"/>
                </a:lnTo>
                <a:lnTo>
                  <a:pt x="0" y="8130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7" name="Group 7"/>
          <p:cNvGrpSpPr/>
          <p:nvPr/>
        </p:nvGrpSpPr>
        <p:grpSpPr>
          <a:xfrm>
            <a:off x="9296400" y="666750"/>
            <a:ext cx="8324850" cy="4684301"/>
            <a:chOff x="0" y="0"/>
            <a:chExt cx="11099800" cy="6245735"/>
          </a:xfrm>
        </p:grpSpPr>
        <p:sp>
          <p:nvSpPr>
            <p:cNvPr id="8" name="TextBox 8"/>
            <p:cNvSpPr txBox="1"/>
            <p:nvPr/>
          </p:nvSpPr>
          <p:spPr>
            <a:xfrm>
              <a:off x="0" y="4357669"/>
              <a:ext cx="11099800" cy="18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This architecture illustrates the interconnected layers crucial for </a:t>
              </a:r>
              <a:r>
                <a:rPr lang="en-US" sz="2000" b="1" spc="-2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ensuring transparency</a:t>
              </a: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 and accountability in supply chains, emphasizing the roles of users, applications, blockchain, analytics, and data management.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623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Layers of the System Design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System Architecture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EA8E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4343149" y="3231077"/>
            <a:ext cx="13183595" cy="6309484"/>
          </a:xfrm>
          <a:custGeom>
            <a:avLst/>
            <a:gdLst/>
            <a:ahLst/>
            <a:cxnLst/>
            <a:rect l="l" t="t" r="r" b="b"/>
            <a:pathLst>
              <a:path w="13183595" h="6309484">
                <a:moveTo>
                  <a:pt x="0" y="0"/>
                </a:moveTo>
                <a:lnTo>
                  <a:pt x="13183595" y="0"/>
                </a:lnTo>
                <a:lnTo>
                  <a:pt x="13183595" y="6309484"/>
                </a:lnTo>
                <a:lnTo>
                  <a:pt x="0" y="6309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" t="-8130" b="-3475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7" name="Group 7"/>
          <p:cNvGrpSpPr/>
          <p:nvPr/>
        </p:nvGrpSpPr>
        <p:grpSpPr>
          <a:xfrm>
            <a:off x="3512730" y="0"/>
            <a:ext cx="14775270" cy="3118287"/>
            <a:chOff x="0" y="0"/>
            <a:chExt cx="19700360" cy="4157716"/>
          </a:xfrm>
        </p:grpSpPr>
        <p:sp>
          <p:nvSpPr>
            <p:cNvPr id="8" name="TextBox 8"/>
            <p:cNvSpPr txBox="1"/>
            <p:nvPr/>
          </p:nvSpPr>
          <p:spPr>
            <a:xfrm>
              <a:off x="0" y="2855260"/>
              <a:ext cx="19700360" cy="1302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98"/>
                </a:lnSpc>
              </a:pPr>
              <a:r>
                <a:rPr lang="en-US" sz="1855" spc="-18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This data flow illustrates how transactional information moves through TrustChain, from ingestion to insight generation.</a:t>
              </a:r>
            </a:p>
            <a:p>
              <a:pPr marL="0" lvl="0" indent="0" algn="l">
                <a:lnSpc>
                  <a:spcPts val="2598"/>
                </a:lnSpc>
              </a:pPr>
              <a:r>
                <a:rPr lang="en-US" sz="1855" spc="-18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It highlights the integration of ETL pipelines, Big Data frameworks, and machine learning models that transform raw events into predictive trust intelligence.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111818"/>
              <a:ext cx="19700360" cy="575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2"/>
                </a:lnSpc>
              </a:pPr>
              <a:r>
                <a:rPr lang="en-US" sz="2783" b="1" spc="-27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Flow and Analytical Intelligence Framework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9700360" cy="1321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45"/>
                </a:lnSpc>
              </a:pPr>
              <a:r>
                <a:rPr lang="en-US" sz="6495" b="1" spc="-64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Flow and Analytics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5550" y="3352800"/>
            <a:ext cx="1790700" cy="1790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48650" y="3352800"/>
            <a:ext cx="1790700" cy="17907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47700"/>
            <a:ext cx="162306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0"/>
              </a:lnSpc>
            </a:pPr>
            <a:r>
              <a:rPr lang="en-US" sz="7000" b="1" u="none" strike="noStrike" spc="-70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Modules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6038850"/>
            <a:ext cx="5448300" cy="1264920"/>
            <a:chOff x="0" y="0"/>
            <a:chExt cx="7264400" cy="16865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 Management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Centralized control for user authentication and roles.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6038850"/>
            <a:ext cx="5448300" cy="1264920"/>
            <a:chOff x="0" y="0"/>
            <a:chExt cx="7264400" cy="16865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Transaction &amp; Escrow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Secure processing of transactions with escrow features.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6038850"/>
            <a:ext cx="5448300" cy="1264920"/>
            <a:chOff x="0" y="0"/>
            <a:chExt cx="7264400" cy="16865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Blockchain Ledger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Immutable records for all transactions and data entries.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001750" y="3352800"/>
            <a:ext cx="1790700" cy="17907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Box 22"/>
          <p:cNvSpPr txBox="1"/>
          <p:nvPr/>
        </p:nvSpPr>
        <p:spPr>
          <a:xfrm>
            <a:off x="666750" y="9466905"/>
            <a:ext cx="257175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DETAILED MODULE DESCRIPTIONS ARE AVAILABLE.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1972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5550" y="3352800"/>
            <a:ext cx="1790700" cy="1790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48650" y="3352800"/>
            <a:ext cx="1790700" cy="17907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47700"/>
            <a:ext cx="162306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0"/>
              </a:lnSpc>
            </a:pPr>
            <a:r>
              <a:rPr lang="en-US" sz="7000" b="1" u="none" strike="noStrike" spc="-70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Modules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6038850"/>
            <a:ext cx="5448300" cy="1264920"/>
            <a:chOff x="0" y="0"/>
            <a:chExt cx="7264400" cy="16865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TrustScore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This module quantifies trust levels through data analysis.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6038850"/>
            <a:ext cx="5448300" cy="1264920"/>
            <a:chOff x="0" y="0"/>
            <a:chExt cx="7264400" cy="16865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Analytics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Provides insights for decision-making and performance improvement.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6038850"/>
            <a:ext cx="5448300" cy="1264920"/>
            <a:chOff x="0" y="0"/>
            <a:chExt cx="7264400" cy="16865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Dashboard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Visualizes key metrics for user-friendly monitoring and control.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001750" y="3352800"/>
            <a:ext cx="1790700" cy="17907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Box 22"/>
          <p:cNvSpPr txBox="1"/>
          <p:nvPr/>
        </p:nvSpPr>
        <p:spPr>
          <a:xfrm>
            <a:off x="666750" y="9362130"/>
            <a:ext cx="2571750" cy="84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FURTHER DETAILS CAN ENHANCE UNDERSTANDING AND USABILITY.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1972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518EC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 dirty="0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Box 8"/>
          <p:cNvSpPr txBox="1"/>
          <p:nvPr/>
        </p:nvSpPr>
        <p:spPr>
          <a:xfrm>
            <a:off x="666750" y="662219"/>
            <a:ext cx="16954500" cy="4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8"/>
              </a:lnSpc>
            </a:pPr>
            <a:r>
              <a:rPr lang="en-US" sz="2962" b="1" u="none" strike="noStrike" spc="-29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Dashboard and Payment Interface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IMPLEMENTATION 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1275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7BF18-8C20-1822-953C-9ABF897B1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15971"/>
            <a:ext cx="8324849" cy="5829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5EE8EF-F9D9-FCD8-5389-72CF22525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049" y="3015974"/>
            <a:ext cx="9364078" cy="58292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A7C3E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 dirty="0"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666750" y="662219"/>
            <a:ext cx="1695450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8"/>
              </a:lnSpc>
            </a:pPr>
            <a:r>
              <a:rPr lang="en-US" sz="2962" b="1" u="none" strike="noStrike" spc="-29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Storage </a:t>
            </a:r>
            <a:r>
              <a:rPr lang="en-US" sz="2962" b="1" spc="-29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(IPFS &amp; Blockchain)</a:t>
            </a:r>
            <a:endParaRPr lang="en-US" sz="2962" b="1" u="none" strike="noStrike" spc="-29" dirty="0">
              <a:solidFill>
                <a:srgbClr val="1F497D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VISUAL REPRESENTATIONS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1471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925716-27E4-B754-F53A-9CB17EECF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20" y="2738807"/>
            <a:ext cx="8534400" cy="5524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AEF78E-2C9E-4C6B-089C-DDDC3830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042" y="2738807"/>
            <a:ext cx="8760538" cy="5524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4E0CA-E806-576A-5D2E-B760B535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57445D9-CAB1-984E-3E76-C4B1832B3F67}"/>
              </a:ext>
            </a:extLst>
          </p:cNvPr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1520FA-356B-5691-8800-69E9EEF33E84}"/>
                </a:ext>
              </a:extLst>
            </p:cNvPr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A7C3E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6D4340-5D34-CEB0-08F8-3A200492D737}"/>
                </a:ext>
              </a:extLst>
            </p:cNvPr>
            <p:cNvSpPr txBox="1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 dirty="0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7E2FDCA-3FBA-02DE-A684-B91B7D68E8DD}"/>
              </a:ext>
            </a:extLst>
          </p:cNvPr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2189352-F56F-7FCF-812D-74B8DAEB33CF}"/>
              </a:ext>
            </a:extLst>
          </p:cNvPr>
          <p:cNvSpPr txBox="1"/>
          <p:nvPr/>
        </p:nvSpPr>
        <p:spPr>
          <a:xfrm>
            <a:off x="666750" y="662219"/>
            <a:ext cx="1695450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8"/>
              </a:lnSpc>
            </a:pPr>
            <a:r>
              <a:rPr lang="en-US" sz="2962" b="1" u="none" strike="noStrike" spc="-29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TrustChain Data Analytics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6BE7EB-FACE-EF2A-579F-2E69F2AD3420}"/>
              </a:ext>
            </a:extLst>
          </p:cNvPr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VISUAL REPRESENTATIONS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80D3F4-EE0C-8D35-8B7A-7BBE731A56BE}"/>
              </a:ext>
            </a:extLst>
          </p:cNvPr>
          <p:cNvSpPr txBox="1"/>
          <p:nvPr/>
        </p:nvSpPr>
        <p:spPr>
          <a:xfrm>
            <a:off x="1741471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A23773-598C-0C05-45A9-7EAA293AC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8" y="3009900"/>
            <a:ext cx="121920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 &amp; Future Work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Synergy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The integration of </a:t>
              </a:r>
              <a:r>
                <a:rPr lang="en-US" sz="2000" b="1" u="none" strike="noStrike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blockchain and big data</a:t>
              </a:r>
              <a:r>
                <a:rPr lang="en-US" sz="2000" u="none" strike="noStrike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 enhances trust and transparency, creating a robust framework that empowers MSMEs to confidently engage in supply chain activities and decision-making.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 dirty="0">
                  <a:solidFill>
                    <a:srgbClr val="518ECC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Next Steps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Future efforts will focus on </a:t>
              </a:r>
              <a:r>
                <a:rPr lang="en-US" sz="2000" b="1" u="none" strike="noStrike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implementing federated machine learning</a:t>
              </a:r>
              <a:r>
                <a:rPr lang="en-US" sz="2000" u="none" strike="noStrike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 and conducting pilot rollouts in MSMEs, enabling scalable insights while safeguarding sensitive data across diverse systems.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FINAL THOUGHTS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F497D"/>
                </a:solidFill>
                <a:latin typeface="Telegraf Bold"/>
                <a:ea typeface="Telegraf Bold"/>
                <a:cs typeface="Telegraf Bold"/>
                <a:sym typeface="Telegraf 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1598784"/>
            <a:chOff x="0" y="0"/>
            <a:chExt cx="14935200" cy="2131712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Contact Information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03062"/>
              <a:ext cx="149352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We’re here to answer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3352800"/>
            <a:ext cx="5448300" cy="4476750"/>
            <a:chOff x="0" y="0"/>
            <a:chExt cx="7264400" cy="5969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104775"/>
              <a:ext cx="72644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Phone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90873"/>
              <a:ext cx="72644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8778728680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07385"/>
              <a:ext cx="72644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 dirty="0">
                  <a:solidFill>
                    <a:srgbClr val="1F497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103033"/>
              <a:ext cx="72644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1F497D"/>
                  </a:solidFill>
                  <a:latin typeface="Telegraf"/>
                  <a:ea typeface="Telegraf"/>
                  <a:cs typeface="Telegraf"/>
                  <a:sym typeface="Telegraf"/>
                </a:rPr>
                <a:t>joelsundarsingh2005@gmail.com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694985"/>
              <a:ext cx="72644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endParaRPr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490633"/>
              <a:ext cx="72644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8EC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638</Words>
  <Application>Microsoft Office PowerPoint</Application>
  <PresentationFormat>Custom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Telegraf</vt:lpstr>
      <vt:lpstr>Calibri</vt:lpstr>
      <vt:lpstr>Arial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Building Trust Through Transparent Supply Chains</dc:title>
  <dc:description>Presentation - Building Trust Through Transparent Supply Chains</dc:description>
  <cp:lastModifiedBy>joelsundarsingh2005@outlook.com</cp:lastModifiedBy>
  <cp:revision>12</cp:revision>
  <dcterms:created xsi:type="dcterms:W3CDTF">2006-08-16T00:00:00Z</dcterms:created>
  <dcterms:modified xsi:type="dcterms:W3CDTF">2025-11-07T05:46:01Z</dcterms:modified>
  <dc:identifier>DAG3716QyM4</dc:identifier>
</cp:coreProperties>
</file>